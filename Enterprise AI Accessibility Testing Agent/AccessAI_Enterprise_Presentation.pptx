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161B22"/>
                </a:solidFill>
              </a:rPr>
              <a:t>♿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C3A5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8A6FF"/>
                </a:solidFill>
              </a:rPr>
              <a:t>ENTERPRISE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Enterprise AI Accessibility Testing Agent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" y="2633472"/>
            <a:ext cx="41148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761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100% Local  •  Open Source  •  WCAG 2.1 AA  •  Zero Cloud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Playwright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07792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axe-core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9664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Ollama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1536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llama3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93408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SQLite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32186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Docker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v1.0.0  •  May 2026  •  Python · FastAPI · Playwright · axe-core · Ollama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</a:rPr>
              <a:t>What is AccessAI?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</a:rPr>
              <a:t>A production-grade, AI-powered web accessibility testing agent that scans any website for WCAG 2.1 violations and generates developer-ready remediation guidance — running 100% locally with no cloud dependencies.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6596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54864" cy="2651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85216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axe-core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2999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Detects 70+ WCAG 2.1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violation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965960"/>
            <a:ext cx="196596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965960"/>
            <a:ext cx="54864" cy="26517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34056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Local LLM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34056" y="2999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explanations via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Ollama — no cloud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196596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965960"/>
            <a:ext cx="54864" cy="26517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82896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Enterprise 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2896" y="2999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HTML · JSON · Executive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summary included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965960"/>
            <a:ext cx="196596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965960"/>
            <a:ext cx="54864" cy="26517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084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100% Private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31736" y="2999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No data sharing,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fully air-gapped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38 files  •  7 frontend  •  14 backend  •  6 infrastructure  •  1 test suite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PROBLEM &amp;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The Accessibility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3840480" cy="35204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54864" cy="35204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810512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97% of top websites have WCAG failures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1 billion+ users with disabilities affected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Manual audits are slow, expensive &amp; inconsistent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Existing tools give raw data — no actionable guidance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Legal risk: ADA, AODA, EN 301 549 compliance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07008"/>
            <a:ext cx="3840480" cy="352044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207008"/>
            <a:ext cx="54864" cy="35204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02352" y="1810512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Automated scanning with Playwright + axe-core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AI explains each issue in plain English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Business impact &amp; affected user groups identified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Code-level fix examples generated by LLM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Score, grade, and executive summary —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3-Tier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A6FF"/>
                </a:solidFill>
              </a:rPr>
              <a:t>TIER 1  —  Frontend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URL Input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Progress Steps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Score 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Violations Table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AI Cards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4944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Screenshot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18120" y="123444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2344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Reports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2084832"/>
            <a:ext cx="0" cy="2286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ysDash"/>
          </a:ln>
        </p:spPr>
      </p:sp>
      <p:sp>
        <p:nvSpPr>
          <p:cNvPr id="21" name="Text 19"/>
          <p:cNvSpPr/>
          <p:nvPr/>
        </p:nvSpPr>
        <p:spPr>
          <a:xfrm>
            <a:off x="3840480" y="21214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REST / JSON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359152"/>
            <a:ext cx="841248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3B341"/>
                </a:solidFill>
              </a:rPr>
              <a:t>TIER 2  —  FastAPI Backend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API Routes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scan / 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health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1188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Scanner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Playwright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axe-core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AI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Ollama client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prompts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2356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Scan Service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orchestration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status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2940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Storage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SQLite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history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635240" y="2487168"/>
            <a:ext cx="896112" cy="117043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50545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Reports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2871216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HTML / JSON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export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34840" y="3803904"/>
            <a:ext cx="0" cy="228600"/>
          </a:xfrm>
          <a:prstGeom prst="line">
            <a:avLst/>
          </a:prstGeom>
          <a:noFill/>
          <a:ln w="19050">
            <a:solidFill>
              <a:srgbClr val="E3B341"/>
            </a:solidFill>
            <a:prstDash val="sysDash"/>
          </a:ln>
        </p:spPr>
      </p:sp>
      <p:sp>
        <p:nvSpPr>
          <p:cNvPr id="43" name="Text 41"/>
          <p:cNvSpPr/>
          <p:nvPr/>
        </p:nvSpPr>
        <p:spPr>
          <a:xfrm>
            <a:off x="384048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HTTP :11434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EE787"/>
                </a:solidFill>
              </a:rPr>
              <a:t>TIER 3  —  Ollama Local LLM Runtime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41879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llama3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15968" y="41879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15968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deepseek-r1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31536" y="41879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1536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qwen2.5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47104" y="41879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7104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mistral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62672" y="41879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62672" y="41879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phi3:mini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1572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HTML5  ·  CSS3  ·  Vanilla JS  ·  Fetch 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234440"/>
            <a:ext cx="54864" cy="15727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6704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Python 3.11  ·  FastAPI  ·  Uvicorn  ·  Pydantic v2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234440"/>
            <a:ext cx="54864" cy="157276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Automation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1344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Playwright  ·  Chromium  ·  axe-core 4.9  ·  ThreadPoolExecutor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54864" cy="157276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</a:rPr>
              <a:t>AI / LLMs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3447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Ollama  ·  llama3  ·  deepseek-r1  ·  qwen2.5 · mistral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54864" cy="1572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46704" y="3447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SQLite  ·  aiosqlite  ·  SQLAlchemy 2.0  ·  JSON columns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971800"/>
            <a:ext cx="2651760" cy="1572768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71800"/>
            <a:ext cx="54864" cy="15727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81344" y="3447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Docker Compose  ·  Nginx  ·  GitHub Actions  ·  pytest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PROCESS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How It Works — Scan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868680" cy="8686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90472" y="1673352"/>
            <a:ext cx="5303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</a:rPr>
              <a:t>Enter URL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Dashboard UI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Fetch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1261872"/>
            <a:ext cx="868680" cy="8686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07792" y="1673352"/>
            <a:ext cx="5303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3794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</a:rPr>
              <a:t>Launch Browser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3794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Playwright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Chromium headless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56432" y="1261872"/>
            <a:ext cx="868680" cy="8686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25112" y="1673352"/>
            <a:ext cx="5303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5526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</a:rPr>
              <a:t>Inject axe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5526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CDN script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WCAG config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73752" y="1261872"/>
            <a:ext cx="868680" cy="86868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742432" y="1673352"/>
            <a:ext cx="5303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7258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657"/>
                </a:solidFill>
              </a:rPr>
              <a:t>Run Audit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7258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70+ WCAG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JSON results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91072" y="1261872"/>
            <a:ext cx="868680" cy="868680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59752" y="1673352"/>
            <a:ext cx="5303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1675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990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E787"/>
                </a:solidFill>
              </a:rPr>
              <a:t>AI Analysis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8990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Ollama 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Prompt templates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08392" y="1261872"/>
            <a:ext cx="868680" cy="868680"/>
          </a:xfrm>
          <a:prstGeom prst="ellipse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6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434072" y="2331720"/>
            <a:ext cx="1371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07224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72"/>
                </a:solidFill>
              </a:rPr>
              <a:t>Report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07224" y="2907792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Score + 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SQLite saved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Scan completes in ~30–90 seconds depending on page complexity and chosen LLM model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AI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AI Analysis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572000" cy="3611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35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</a:rPr>
              <a:t>SAMPLE AI JSON OUTPUT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4251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"issue_title": "Missing alt text",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"critical",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"wcag_reference": "WCAG 2.1 SC 1.1.1",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"business_impact": "Excludes 2.2B users...",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"affected_users": "Blind / low-vision",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"technical_explanation": "No alt attribute",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"recommended_fix": "Add descriptive alt",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"sample_code_fix": "&lt;img alt='Logo'&gt;",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"P1"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66360" y="1207008"/>
            <a:ext cx="36576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1207008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298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3 Prompt Templates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618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Violation analysis · Executive summary · Dev guide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66360" y="2121408"/>
            <a:ext cx="36576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66360" y="2121408"/>
            <a:ext cx="54864" cy="7772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</a:rPr>
              <a:t>Retry + Backoff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2532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3 retries with 2ⁿ backoff · Timeout handling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3035808"/>
            <a:ext cx="36576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3035808"/>
            <a:ext cx="54864" cy="7772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3127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</a:rPr>
              <a:t>Robust JSON Parsing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34472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Handles markdown fences · embedded JSON · fallback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3950208"/>
            <a:ext cx="36576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3950208"/>
            <a:ext cx="54864" cy="77724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4041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Violation Caching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4361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Same rule ID → instant result · no re-analysis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66360" y="4919472"/>
            <a:ext cx="3657600" cy="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Models: llama3  ·  deepseek-r1  ·  qwen2.5  ·  mistral  ·  phi3:mini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FRONTEND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Enterprise Dashboard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10312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1463040" cy="14630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435608"/>
            <a:ext cx="1335024" cy="1335024"/>
          </a:xfrm>
          <a:prstGeom prst="ellipse">
            <a:avLst/>
          </a:prstGeom>
          <a:solidFill>
            <a:srgbClr val="21262D"/>
          </a:solidFill>
          <a:ln w="635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05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85.7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Accessibility Score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51760" y="1207008"/>
            <a:ext cx="118872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53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72"/>
                </a:solidFill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Critical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50208" y="1207008"/>
            <a:ext cx="118872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A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353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657"/>
                </a:solidFill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50208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High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48656" y="1207008"/>
            <a:ext cx="118872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1353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B341"/>
                </a:solidFill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48656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Medium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47104" y="1207008"/>
            <a:ext cx="118872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7EE7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353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EE787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47104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Low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45552" y="1207008"/>
            <a:ext cx="118872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1353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</a:rPr>
              <a:t>30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845552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Passed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1965960" cy="384048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Violations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2788920"/>
            <a:ext cx="196596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Analysis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88920"/>
            <a:ext cx="196596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Screenshot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2788920"/>
            <a:ext cx="196596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73552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38328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3A1F1F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</a:rPr>
              <a:t>HIGH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Ensures contrast between foreground and background colors meets WCAG 2 AA minimum contrast ratio thresholds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338328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3832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WCAG 2AA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31520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19 elements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39319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Real-time 6-step progress bar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Dark / Light theme toggle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Violation detail modal with failing HTML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Severity + WCAG category filters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Full-text search across violations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Scan history sidebar with scores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ACCESSIBILITY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Scanner &amp; WCAG 2.1 Coverage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01168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984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</a:rPr>
              <a:t>Critical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Score penalty: ×10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Missing alt, keyboard trap,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ARIA missing role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170432"/>
            <a:ext cx="201168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2984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</a:rPr>
              <a:t>High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24328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Score penalty: ×5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24328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Low contrast, form labels,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focus order broken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201168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2984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341"/>
                </a:solidFill>
              </a:rPr>
              <a:t>Medium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Score penalty: ×2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Heading structure, link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purpose unclear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170432"/>
            <a:ext cx="201168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22008" y="12984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</a:rPr>
              <a:t>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Score penalty: ×1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22008" y="199339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Minor ARIA, redundant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alt text, tabindex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841248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Scoring Formula: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2735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 × passed_checks / (passed_checks + weighted_violations)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02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Grades:  A ≥ 90  ·  B ≥ 75  ·  C ≥ 60  ·  D ≥ 40  ·  F &lt; 40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599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</a:rPr>
              <a:t>Violation types detected: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Alt text (1.1.1)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Colour contrast (1.4.3)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Form labels (1.3.1)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Keyboard nav (2.1.1)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ARIA roles (4.1.2)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33472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Page title (2.4.2)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9744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Bypass blocks (2.4.1)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86016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Focus order (2.4.3)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Link purpose (2.4.4)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33472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Language (3.1.1)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Heading structure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86016" y="4352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70+ more rules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API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REST API Reference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61872" y="12710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0" y="12710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App health check — returns status + version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3383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3677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367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61872" y="1645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/health/ollama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Ollama status + list of available models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56816"/>
            <a:ext cx="841248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1168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3A1F0A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116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657"/>
                </a:solidFill>
              </a:rPr>
              <a:t>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1872" y="2020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/api/scan/start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0208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Start scan — returns scan_id immediately (async)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8412480" cy="3383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8658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61872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/api/scan/{id}/status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Poll progress: status, step, progress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06624"/>
            <a:ext cx="841248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7614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614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61872" y="2770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/api/scan/{id}/results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27706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Full results: violations, AI analyses, score, metrics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81528"/>
            <a:ext cx="8412480" cy="3383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13639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1363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61872" y="3145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/api/scan/{id}/screenshot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31455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PNG screenshot of the scanned page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56432"/>
            <a:ext cx="841248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51129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112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61872" y="35204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/api/scans/history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3520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Last 20 scans with scores and dates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831336"/>
            <a:ext cx="8412480" cy="3383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88620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862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261872" y="3895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/api/report/{id}?format=html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0" y="38953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Download professionally styled HTML report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206240"/>
            <a:ext cx="841248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426110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2611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E787"/>
                </a:solidFill>
              </a:rPr>
              <a:t>GET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261872" y="4270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/api/report/{id}?format=json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0" y="42702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Download raw JSON report for integrations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581144"/>
            <a:ext cx="8412480" cy="3383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463600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D1F0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636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GET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261872" y="4645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0" y="464515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Interactive Swagger UI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LIVE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Scan Results — w3schools.com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783080" cy="217627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1325880" cy="13258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62456"/>
            <a:ext cx="1197864" cy="1197864"/>
          </a:xfrm>
          <a:prstGeom prst="ellipse">
            <a:avLst/>
          </a:prstGeom>
          <a:solidFill>
            <a:srgbClr val="21262D"/>
          </a:solidFill>
          <a:ln w="635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85.7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Score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9809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31720" y="1170432"/>
            <a:ext cx="1188720" cy="1170432"/>
          </a:xfrm>
          <a:prstGeom prst="rect">
            <a:avLst/>
          </a:prstGeom>
          <a:solidFill>
            <a:srgbClr val="21262D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72"/>
                </a:solidFill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172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Critical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30168" y="1170432"/>
            <a:ext cx="1188720" cy="1170432"/>
          </a:xfrm>
          <a:prstGeom prst="rect">
            <a:avLst/>
          </a:prstGeom>
          <a:solidFill>
            <a:srgbClr val="21262D"/>
          </a:solidFill>
          <a:ln w="25400">
            <a:solidFill>
              <a:srgbClr val="FFA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A657"/>
                </a:solidFill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30168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28616" y="1170432"/>
            <a:ext cx="1188720" cy="1170432"/>
          </a:xfrm>
          <a:prstGeom prst="rect">
            <a:avLst/>
          </a:prstGeom>
          <a:solidFill>
            <a:srgbClr val="21262D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B341"/>
                </a:solidFill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28616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Medium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27064" y="1170432"/>
            <a:ext cx="1188720" cy="1170432"/>
          </a:xfrm>
          <a:prstGeom prst="rect">
            <a:avLst/>
          </a:prstGeom>
          <a:solidFill>
            <a:srgbClr val="21262D"/>
          </a:solidFill>
          <a:ln w="25400">
            <a:solidFill>
              <a:srgbClr val="7EE7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E787"/>
                </a:solidFill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27064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Low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25512" y="1170432"/>
            <a:ext cx="1188720" cy="1170432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30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25512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Passed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8412480" cy="2148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6974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949E"/>
                </a:solidFill>
              </a:rPr>
              <a:t>AI ANALYSIS — HIGH VIOLATION DETECTED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29809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Insufficient Color Contrast between Button Text and Background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40156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C3A5E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B341"/>
                </a:solidFill>
              </a:rPr>
              <a:t>WCAG: WCAG 2.1 SC 1.4.3 (Level AA)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0" y="340156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C3A5E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B72"/>
                </a:solidFill>
              </a:rPr>
              <a:t>PRIORITY: P1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37856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949E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Legal risk and user exclusion for ~300M users with colour vision deficiency.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949E"/>
                </a:solidFill>
              </a:rPr>
              <a:t>Code Fix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4005072"/>
            <a:ext cx="4041648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81728" y="4096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style="color:#333;"&gt;Sign In&lt;/span&gt;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SETUP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Quick Start — 4 Commands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16052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Install dependencies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3840480" cy="7863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92024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playwright install chromium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207008"/>
            <a:ext cx="416052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353312"/>
            <a:ext cx="457200" cy="457200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389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</a:rPr>
              <a:t>Start Ollama + pull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18888" y="1847088"/>
            <a:ext cx="3840480" cy="7863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92024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16052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45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</a:rPr>
              <a:t>Start 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602736"/>
            <a:ext cx="3840480" cy="7863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6758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2962656"/>
            <a:ext cx="416052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108960"/>
            <a:ext cx="457200" cy="45720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67528" y="3145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Open frontend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8888" y="3602736"/>
            <a:ext cx="3840480" cy="7863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6758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frontend/index.html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657"/>
                </a:solidFill>
              </a:rPr>
              <a:t>⚠  Windows users: always start with  python main.py  (not uvicorn directly)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PROJECT 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38 Files — Modular Enterprise Layout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724912" cy="37490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54864" cy="3749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Frontend  (7 files)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682496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— dashboard UI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styles/main.css — theme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styles/dashboard.css — components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styles/components.css — utils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scripts/api.js — API client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scripts/ui.js — rendering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scripts/app.js — controller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70432"/>
            <a:ext cx="2724912" cy="374904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70432"/>
            <a:ext cx="54864" cy="37490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</a:rPr>
              <a:t>Backend  (14 files)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2424" y="1682496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FastAPI entry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api/routes/scan.py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api/routes/report.py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api/routes/health.py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services/scan_service.py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scanner/axe_scanner.py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ai_engine/ollama_service.py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models/schemas.py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utils/config.py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utils/database.py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utils/logger.py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utils/validators.py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170432"/>
            <a:ext cx="2724912" cy="374904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70432"/>
            <a:ext cx="54864" cy="37490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</a:rPr>
              <a:t>Infrastructure  (6 files)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1682496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docker/docker-compose.yml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docker/Dockerfile.backend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docker/nginx.conf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tests/test_main.py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DEVOPS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Deployment &amp; CI/CD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26060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316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🐳  Docker Compose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3840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55648"/>
            <a:ext cx="54864" cy="5303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accessai-backend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Python + Playwright · port 8000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395728"/>
            <a:ext cx="3840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395728"/>
            <a:ext cx="54864" cy="530352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50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accessai-ollama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6700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LLM server · port 11434 · PVC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035808"/>
            <a:ext cx="3840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35808"/>
            <a:ext cx="54864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0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accessai-nginx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Frontend + proxy · port 80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4069080" cy="2606040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1316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</a:rPr>
              <a:t>⚙  GitHub Actions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64608" y="181051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56632" y="2212848"/>
            <a:ext cx="0" cy="7315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810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Lint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029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ruff check backend/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64608" y="2313432"/>
            <a:ext cx="384048" cy="38404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56632" y="2715768"/>
            <a:ext cx="0" cy="7315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3134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532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pytest --asyncio-mode=auto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64608" y="2816352"/>
            <a:ext cx="384048" cy="384048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56632" y="3218688"/>
            <a:ext cx="0" cy="7315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816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A11y Scan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30358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Regression on main branch push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4608" y="3319272"/>
            <a:ext cx="384048" cy="384048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319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</a:rPr>
              <a:t>Docker Build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35387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Tag with git SHA on main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913632"/>
            <a:ext cx="841248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Key .env variables: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77440" y="404164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OLLAMA_BASE_URL  ·  OLLAMA_DEFAULT_MODEL  ·  BROWSER_HEADLESS  ·  SCAN_TIMEOUT  ·  SCREENSHOTS_DIR  ·  DATABASE_URL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Advanced Features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724912" cy="3639312"/>
          </a:xfrm>
          <a:prstGeom prst="rect">
            <a:avLst/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54864" cy="3639312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16736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08176" y="1335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Effort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719072"/>
            <a:ext cx="2395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Parallel AI analysis (3× faster)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Violation caching by rule ID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Slack notifications on scan complete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Fast mode (phi3:mini auto-select)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724912" cy="3639312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07008"/>
            <a:ext cx="54864" cy="363931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316736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</a:rPr>
              <a:t>Medium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88536" y="1335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Effort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0712" y="1719072"/>
            <a:ext cx="2395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Scheduled scans (APScheduler)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Jira issue creation per violation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PDF export (weasyprint)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Historical trend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207008"/>
            <a:ext cx="2724912" cy="3639312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07008"/>
            <a:ext cx="54864" cy="3639312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1316736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68896" y="1335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Effort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95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JWT auth + RBAC multi-user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Screenshot annotations (Pillow)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Kubernetes deployment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8B949E"/>
                </a:solidFill>
              </a:rPr>
              <a:t>VS Code extension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Current implementation already includes fallback analysis when Ollama is offline — always returns useful results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</a:rPr>
              <a:t>PORTFOLIO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Resume-Ready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120700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61872"/>
            <a:ext cx="8092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Architected a production-grade AI-powered WCAG 2.1 accessibility testing platform using Python (FastAPI), Playwright browser automation, axe-core, and locally-hosted LLMs via Ollama. Features real-time scanning, severity classification, AI-generated remediation with code examples, enterprise dashboard, and CI/CD pipeline. 38 files — zero cloud dependencies.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Key Interview Talking Points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871216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962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Solved Windows asyncio + Playwright conflict using ThreadPoolExecutor pattern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2871216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962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84648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Prompt engineering for structured JSON output from open-source LLMs with fallback handling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84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Polling architecture with in-memory status store for real-time progress updates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3493008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3584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4648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URL sanitization, SSRF protection, Pydantic v2 validation across all API endpoints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Weighted scoring algorithm: Critical×10 / High×5 / Medium×2 / Low×1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4114800"/>
            <a:ext cx="416052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4648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Fully air-gapped — zero external API calls, privacy-preserving by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Python  ·  FastAPI  ·  Playwright  ·  axe-core  ·  Ollama  ·  SQLite  ·  Docker  ·  GitHub Actions  ·  WCAG 2.1  ·  Prompt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9144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dirty="0">
                <a:solidFill>
                  <a:srgbClr val="18212B"/>
                </a:solidFill>
              </a:rPr>
              <a:t>♿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Enterprise AI Accessibility Testing Agent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384048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100% Local  •  Open Source  •  Zero Cloud  •  WCAG 2.1 AA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</a:rPr>
              <a:t>Backend: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Python · FastAPI · SQLite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8608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Scanner: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78608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Playwright · axe-core 4.9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0016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AI: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0016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Ollama · llama3 · deepseek-r1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21424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Deploy: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21424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Docker · Nginx · GitHub Actions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v1.0.0  •  May 2026  •  Built with ♥ and local LLMs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AccessAI — Enterprise AI Accessibility Testing Agent</dc:title>
  <dc:subject>PptxGenJS Presentation</dc:subject>
  <dc:creator>AccessAI</dc:creator>
  <cp:lastModifiedBy>AccessAI</cp:lastModifiedBy>
  <cp:revision>1</cp:revision>
  <dcterms:created xsi:type="dcterms:W3CDTF">2026-05-15T09:16:57Z</dcterms:created>
  <dcterms:modified xsi:type="dcterms:W3CDTF">2026-05-15T09:16:57Z</dcterms:modified>
</cp:coreProperties>
</file>